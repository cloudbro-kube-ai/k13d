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k13d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Kubernetes AI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</a:defRPr>
            </a:pPr>
            <a:r>
              <a:t>Reboot Project - Feature Branch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</a:defRPr>
            </a:pPr>
            <a:r>
              <a:t>2026.03 ~ 2026.06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37 Commits | 73 Files Changed | +9,169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</a:defRPr>
            </a:pPr>
            <a:r>
              <a:t>github.com/cloudbro-kube-ai/k13d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K13D: 지능형 DevOps 플랫폼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k + 13 letters + d = kubeaidashboard</a:t>
            </a:r>
          </a:p>
          <a:p>
            <a:pPr algn="l">
              <a:spcBef>
                <a:spcPts val="800"/>
              </a:spcBef>
              <a:defRPr sz="2400" b="1">
                <a:solidFill>
                  <a:srgbClr val="1A1A2E"/>
                </a:solidFill>
              </a:defRPr>
            </a:pPr>
            <a:r>
              <a:t>K8s 운영의 새로운 패러다임</a:t>
            </a:r>
          </a:p>
          <a:p>
            <a:pPr algn="l">
              <a:spcBef>
                <a:spcPts val="400"/>
              </a:spcBef>
              <a:defRPr sz="2800" b="1">
                <a:solidFill>
                  <a:srgbClr val="E94560"/>
                </a:solidFill>
              </a:defRPr>
            </a:pPr>
            <a:r>
              <a:t>Dashboard +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k9s, Kubernetes Dashboard, kubectl-ai — K8s 도구들이 각각의 인터페이스에 갇혀 단편화된 불편함을 하나의 바이너리로 해결합니다.</a:t>
            </a:r>
            <a:br/>
            <a:br/>
            <a:r>
              <a:t>TUI와 Web UI를 동시에 제공하며, AI가 리소스 컨텍스트를 이해하고 실제 kubectl 명령어를 직접 실행하는 올인원 DevOps 플랫폼입니다.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2468880" cy="640080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94560"/>
                </a:solidFill>
              </a:defRPr>
            </a:pPr>
            <a:r>
              <a:t>vs k9s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TUI 전용 → TUI + Web +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4572000"/>
            <a:ext cx="2468880" cy="640080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94560"/>
                </a:solidFill>
              </a:defRPr>
            </a:pPr>
            <a:r>
              <a:t>vs K8s Dashboard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Web 전용 → Web + TUI +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2468880" cy="640080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94560"/>
                </a:solidFill>
              </a:defRPr>
            </a:pPr>
            <a:r>
              <a:t>vs kubectl-ai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CLI 전용 → Dashboard + TUI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5303520"/>
            <a:ext cx="2468880" cy="640080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94560"/>
                </a:solidFill>
              </a:defRPr>
            </a:pPr>
            <a:r>
              <a:t>vs Lens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Desktop IDE → 단일 바이너리 +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029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</a:defRPr>
            </a:pPr>
            <a:r>
              <a:t>k13d dashboard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2084832"/>
            <a:ext cx="137160" cy="13716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nginx-pod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011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A085"/>
                </a:solidFill>
              </a:defRPr>
            </a:pPr>
            <a:r>
              <a:t>Running</a:t>
            </a:r>
          </a:p>
        </p:txBody>
      </p:sp>
      <p:sp>
        <p:nvSpPr>
          <p:cNvPr id="16" name="Oval 15"/>
          <p:cNvSpPr/>
          <p:nvPr/>
        </p:nvSpPr>
        <p:spPr>
          <a:xfrm>
            <a:off x="6675120" y="2496312"/>
            <a:ext cx="137160" cy="13716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api-server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423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prod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A085"/>
                </a:solidFill>
              </a:defRPr>
            </a:pPr>
            <a:r>
              <a:t>Running</a:t>
            </a:r>
          </a:p>
        </p:txBody>
      </p:sp>
      <p:sp>
        <p:nvSpPr>
          <p:cNvPr id="20" name="Oval 19"/>
          <p:cNvSpPr/>
          <p:nvPr/>
        </p:nvSpPr>
        <p:spPr>
          <a:xfrm>
            <a:off x="6675120" y="2907792"/>
            <a:ext cx="137160" cy="1371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redis-master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834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prod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94560"/>
                </a:solidFill>
              </a:defRPr>
            </a:pPr>
            <a:r>
              <a:t>CrashLoop</a:t>
            </a:r>
          </a:p>
        </p:txBody>
      </p:sp>
      <p:sp>
        <p:nvSpPr>
          <p:cNvPr id="24" name="Oval 23"/>
          <p:cNvSpPr/>
          <p:nvPr/>
        </p:nvSpPr>
        <p:spPr>
          <a:xfrm>
            <a:off x="6675120" y="3319272"/>
            <a:ext cx="137160" cy="13716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gateway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246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default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A085"/>
                </a:solidFill>
              </a:defRPr>
            </a:pPr>
            <a:r>
              <a:t>Running</a:t>
            </a:r>
          </a:p>
        </p:txBody>
      </p:sp>
      <p:sp>
        <p:nvSpPr>
          <p:cNvPr id="28" name="Oval 27"/>
          <p:cNvSpPr/>
          <p:nvPr/>
        </p:nvSpPr>
        <p:spPr>
          <a:xfrm>
            <a:off x="6675120" y="3730752"/>
            <a:ext cx="137160" cy="13716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worker-1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657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9C12"/>
                </a:solidFill>
              </a:defRPr>
            </a:pPr>
            <a:r>
              <a:t>OOMKill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k13D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</a:defRPr>
            </a:pPr>
            <a:r>
              <a:t>USER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737360"/>
            <a:ext cx="2286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TUI</a:t>
            </a:r>
          </a:p>
          <a:p>
            <a:pPr algn="ctr">
              <a:defRPr sz="1000">
                <a:solidFill>
                  <a:srgbClr val="666666"/>
                </a:solidFill>
              </a:defRPr>
            </a:pPr>
            <a:r>
              <a:t>tview ·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737360"/>
            <a:ext cx="2286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Web UI</a:t>
            </a:r>
          </a:p>
          <a:p>
            <a:pPr algn="ctr">
              <a:defRPr sz="1000">
                <a:solidFill>
                  <a:srgbClr val="666666"/>
                </a:solidFill>
              </a:defRPr>
            </a:pPr>
            <a:r>
              <a:t>HTTP · 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737360"/>
            <a:ext cx="2286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CLI / MCP</a:t>
            </a:r>
          </a:p>
          <a:p>
            <a:pPr algn="ctr">
              <a:defRPr sz="1000">
                <a:solidFill>
                  <a:srgbClr val="666666"/>
                </a:solidFill>
              </a:defRPr>
            </a:pPr>
            <a:r>
              <a:t>REPL · stdio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</a:defRPr>
            </a:pPr>
            <a:r>
              <a:t>SHARED 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108960"/>
            <a:ext cx="914400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</a:defRPr>
            </a:pPr>
            <a:r>
              <a:t>Providers · Tools ·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K8s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</a:defRPr>
            </a:pPr>
            <a:r>
              <a:t>client-go · Watcher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Config &amp;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</a:defRPr>
            </a:pPr>
            <a:r>
              <a:t>Settings · Audit ·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</a:defRPr>
            </a:pPr>
            <a:r>
              <a:t>Safety · Scanner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06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</a:defRPr>
            </a:pPr>
            <a:r>
              <a:t>EXTERNAL SERVICES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57200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Kubernetes API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Cluster Resources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457200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LLM Provider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OpenAI / Ollama / 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57200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MCP Server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Extensible 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457200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SQLite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Audit Log &amp; Settings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K13D 기능 구성도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2651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566160" cy="4572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K8s Resource Views  [25+ types]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Core: Pods, Deployments, Services, Nodes</a:t>
            </a:r>
            <a:br/>
            <a:r>
              <a:t>Config: ConfigMaps, Secrets, PV/PVC</a:t>
            </a:r>
            <a:br/>
            <a:r>
              <a:t>Workloads: ReplicaSets, DaemonSets, Jobs</a:t>
            </a:r>
            <a:br/>
            <a:r>
              <a:t>Networking: Ingresses, NetworkPolicies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2651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566160" cy="45720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AI Assistant  [7+ providers]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64592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NL Query: Natural language K8s 질의</a:t>
            </a:r>
            <a:br/>
            <a:r>
              <a:t>Context-Aware: YAML + Events + Logs</a:t>
            </a:r>
            <a:br/>
            <a:r>
              <a:t>Tool Use: kubectl, bash, MCP</a:t>
            </a:r>
            <a:br/>
            <a:r>
              <a:t>Safety: 위험 명령어 승인 모달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566160" cy="2651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566160" cy="4572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TUI Operations  [k9s parity]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Navigation: Vim-style j/k/g/G</a:t>
            </a:r>
            <a:br/>
            <a:r>
              <a:t>Command Mode: :pods, :deploy, :svc</a:t>
            </a:r>
            <a:br/>
            <a:r>
              <a:t>Resource Actions: describe, YAML, edit</a:t>
            </a:r>
            <a:br/>
            <a:r>
              <a:t>Filter &amp; Sort: / 필터, 정렬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3566160" cy="2651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3566160" cy="457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Web UI  [full dashboard]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8056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Dashboard: 리소스 대시보드</a:t>
            </a:r>
            <a:br/>
            <a:r>
              <a:t>AI Chat: Web 환경 AI 비서</a:t>
            </a:r>
            <a:br/>
            <a:r>
              <a:t>Multi-Cluster: 여러 클러스터 전환</a:t>
            </a:r>
            <a:br/>
            <a:r>
              <a:t>Auth: Local/OIDC/LDAP 인증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931920"/>
            <a:ext cx="3566160" cy="2651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3931920"/>
            <a:ext cx="356616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Monitoring  [deep insights]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48056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Metrics: Pod/Node CPU/Memory</a:t>
            </a:r>
            <a:br/>
            <a:r>
              <a:t>Pulse: 클러스터 상태 진단</a:t>
            </a:r>
            <a:br/>
            <a:r>
              <a:t>XRay: 리소스 계층 분석</a:t>
            </a:r>
            <a:br/>
            <a:r>
              <a:t>Analysis: AI 기반 분석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931920"/>
            <a:ext cx="3566160" cy="2651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3931920"/>
            <a:ext cx="356616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Operations  [enterprise]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48056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GitOps: ArgoCD, Flux 연동</a:t>
            </a:r>
            <a:br/>
            <a:r>
              <a:t>Backup: Velero 백업/복구</a:t>
            </a:r>
            <a:br/>
            <a:r>
              <a:t>Self-Healing: 자동 복구</a:t>
            </a:r>
            <a:br/>
            <a:r>
              <a:t>Audit: SQLite 감사 로그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K13D API Spec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2651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A1A2E"/>
                </a:solidFill>
              </a:defRPr>
            </a:pPr>
            <a:r>
              <a:t>System [4]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GET /api/health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GET /api/version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GET /api/features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GET /api/metrics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97280"/>
            <a:ext cx="3566160" cy="2651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A1A2E"/>
                </a:solidFill>
              </a:defRPr>
            </a:pPr>
            <a:r>
              <a:t>Auth [12]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POST /api/auth/login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POST /api/auth/logout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GET /api/auth/status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OIDC login/callback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97280"/>
            <a:ext cx="3566160" cy="2651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A1A2E"/>
                </a:solidFill>
              </a:defRPr>
            </a:pPr>
            <a:r>
              <a:t>K8s Resources [10]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GET /api/k8s/{resource}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POST /api/k8s/apply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GET /api/overview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GET /api/pulse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3566160" cy="2651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A1A2E"/>
                </a:solidFill>
              </a:defRPr>
            </a:pPr>
            <a:r>
              <a:t>Workload Ops [16]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PUT deployment/scale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POST restart/pause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GET deployment/history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POST node/drain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931920"/>
            <a:ext cx="3566160" cy="2651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A1A2E"/>
                </a:solidFill>
              </a:defRPr>
            </a:pPr>
            <a:r>
              <a:t>AI &amp; LLM [18]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POST /api/chat/agentic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GET /api/sessions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GET /api/models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GET /api/mcp/servers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931920"/>
            <a:ext cx="3566160" cy="2651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A1A2E"/>
                </a:solidFill>
              </a:defRPr>
            </a:pPr>
            <a:r>
              <a:t>Cluster [12]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GET /api/contexts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GET /api/pods/{name}/logs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WebSocket /api/terminal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  <a:latin typeface="Monaco"/>
              </a:defRPr>
            </a:pPr>
            <a:r>
              <a:t>GET /api/topology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k13d에서 사용가능한 LLM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유형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Tool Calling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Streaming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Multi-Model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환경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REST API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Function Call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SSE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Cloud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GPT-4o, GPT-4, o-series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Native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Claude 4, Claude 3.5 Sonnet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Google Gemini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REST API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Function Call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SSE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Cloud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Gemini 2.5 Flash/Pro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AWS Bedrock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AWS 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Tool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Claude, Llama 등 다수 모델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Azure OpenAI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REST API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Function Call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SSE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Microsoft Azure 클라우드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Ollama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Native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NDJSON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LLaMA, Mistral 등 로컬 실행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LiteLLM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Proxy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Delegate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SSE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Proxy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100+ LLM 프록시 지원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OpenRouter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Proxy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Function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Proxy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다수 모델 라우팅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Upstage Solar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REST API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Function Call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SSE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Cloud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한국형 LLM (Solar Pro2)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Tip: 모든 Provider는 config.yaml에서 llm.provider 필드로 설정하며, Tool Calling은 kubectl, bash, MCP 도구를 AI가 직접 실행할 때 필요합니다.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K13D가 답변을 내는 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00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사용자 질문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"redis-master가 왜 CrashLoop인가요?"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188720"/>
            <a:ext cx="3200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3460"/>
                </a:solidFill>
              </a:defRPr>
            </a:pPr>
            <a:r>
              <a:t>컨텍스트 수집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YAML + Events + Logs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188720"/>
            <a:ext cx="3200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B59B6"/>
                </a:solidFill>
              </a:defRPr>
            </a:pPr>
            <a:r>
              <a:t>LLM 호출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Tool Call 요청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</a:defRPr>
            </a:pPr>
            <a:r>
              <a:t>도구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kubectl: get pod, describe, logs, top  |  bash: curl, system commands  |  MCP: 확장 도구 (DB, HTTP 등)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10972800" cy="91440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</a:defRPr>
            </a:pPr>
            <a:r>
              <a:t>안전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O 명령어 분류  |  O 위험도 분석  |  ⚠ 위험 명령어 → 사용자 승인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46320"/>
            <a:ext cx="10972800" cy="1371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085"/>
                </a:solidFill>
              </a:defRPr>
            </a:pPr>
            <a:r>
              <a:t>최종 답변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redis-master의 메모리 제한이 256Mi로 설정되어 있으나 최근 트래픽 증가로 380Mi까지 사용 중입니다.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실행: kubectl set resources deployment/redis-master -c redis --limits=memory=512Mi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주요 개선 작업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1000"/>
              </a:spcAft>
              <a:defRPr sz="2000" b="1">
                <a:solidFill>
                  <a:srgbClr val="1A1A2E"/>
                </a:solidFill>
              </a:defRPr>
            </a:pPr>
            <a:r>
              <a:t>Web UI 고도화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Lucide 아이콘 시스템 교체, TailAdmin 스타일 사이드바, 다크모드 지원, 한글 i18n 전체 적용으로 사용자 경험 대폭 향상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1000"/>
              </a:spcAft>
              <a:defRPr sz="2000" b="1">
                <a:solidFill>
                  <a:srgbClr val="1A1A2E"/>
                </a:solidFill>
              </a:defRPr>
            </a:pPr>
            <a:r>
              <a:t>CLI 신규 개발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터미널 기반 REPL 인터페이스 구축, 한글 입력 지원, K8s 컨텍스트 인식 AI 명령어로 개발자 생산성 강화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54864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1000"/>
              </a:spcAft>
              <a:defRPr sz="2000" b="1">
                <a:solidFill>
                  <a:srgbClr val="1A1A2E"/>
                </a:solidFill>
              </a:defRPr>
            </a:pPr>
            <a:r>
              <a:t>TUI 개선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화면 깜빡임 3단계 개선, Diff 렌더링 구현, 웰컴 스크린 추가로 터미널 UI 품질 향상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49039"/>
            <a:ext cx="54864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1000"/>
              </a:spcAft>
              <a:defRPr sz="2000" b="1">
                <a:solidFill>
                  <a:srgbClr val="1A1A2E"/>
                </a:solidFill>
              </a:defRPr>
            </a:pPr>
            <a:r>
              <a:t>AI 모델 설정 방식 개선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AI 모델 설정 UI 개선, openrouter 제공 모델 연동 기능 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94560"/>
                </a:solidFill>
              </a:defRPr>
            </a:pPr>
            <a: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Total Commits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94560"/>
                </a:solidFill>
              </a:defRPr>
            </a:pPr>
            <a:r>
              <a:t>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Files Changed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94560"/>
                </a:solidFill>
              </a:defRPr>
            </a:pPr>
            <a:r>
              <a:t>+10,939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Lines Added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94560"/>
                </a:solidFill>
              </a:defRPr>
            </a:pPr>
            <a:r>
              <a:t>-1,770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Lines Removed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Web UI 주요 업데이트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822960"/>
          <a:lstStyle/>
          <a:p>
            <a:pPr algn="ctr">
              <a:spcAft>
                <a:spcPts val="800"/>
              </a:spcAft>
              <a:defRPr sz="1600" b="1">
                <a:solidFill>
                  <a:srgbClr val="1A1A2E"/>
                </a:solidFill>
              </a:defRPr>
            </a:pPr>
            <a:r>
              <a:t>Lucide 아이콘 시스템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기존 아이콘 → Lucide 전체 교체</a:t>
            </a:r>
            <a:br/>
            <a:r>
              <a:t>상단 헤더 아이콘만 표시로 변경하여 사용성 개선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566160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822960"/>
          <a:lstStyle/>
          <a:p>
            <a:pPr algn="ctr">
              <a:spcAft>
                <a:spcPts val="800"/>
              </a:spcAft>
              <a:defRPr sz="1600" b="1">
                <a:solidFill>
                  <a:srgbClr val="1A1A2E"/>
                </a:solidFill>
              </a:defRPr>
            </a:pPr>
            <a:r>
              <a:t>다크 모드 지원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헤더 토글 버튼 추가, Sun/Moon 아이콘</a:t>
            </a:r>
            <a:br/>
            <a:r>
              <a:t>Ollama 미니멀리스트 테마 방식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71600"/>
            <a:ext cx="457200" cy="4572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1188720"/>
            <a:ext cx="3566160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822960"/>
          <a:lstStyle/>
          <a:p>
            <a:pPr algn="ctr">
              <a:spcAft>
                <a:spcPts val="800"/>
              </a:spcAft>
              <a:defRPr sz="1600" b="1">
                <a:solidFill>
                  <a:srgbClr val="1A1A2E"/>
                </a:solidFill>
              </a:defRPr>
            </a:pPr>
            <a:r>
              <a:t>한글 i18n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전체 UI 번역, 언어 설정 영어/한국어 제한</a:t>
            </a:r>
            <a:br/>
            <a:r>
              <a:t>AI 패널 번역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371600"/>
            <a:ext cx="457200" cy="4572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3566160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822960"/>
          <a:lstStyle/>
          <a:p>
            <a:pPr algn="ctr">
              <a:spcAft>
                <a:spcPts val="800"/>
              </a:spcAft>
              <a:defRPr sz="1600" b="1">
                <a:solidFill>
                  <a:srgbClr val="1A1A2E"/>
                </a:solidFill>
              </a:defRPr>
            </a:pPr>
            <a:r>
              <a:t>Cluster Visualizer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Pod 간 통신 실시간 애니메이션 효과</a:t>
            </a:r>
            <a:br/>
            <a:r>
              <a:t>K8S 전체 상태 시각화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457200" cy="457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3931920"/>
            <a:ext cx="3566160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822960"/>
          <a:lstStyle/>
          <a:p>
            <a:pPr algn="ctr">
              <a:spcAft>
                <a:spcPts val="800"/>
              </a:spcAft>
              <a:defRPr sz="1600" b="1">
                <a:solidFill>
                  <a:srgbClr val="1A1A2E"/>
                </a:solidFill>
              </a:defRPr>
            </a:pPr>
            <a:r>
              <a:t>AI 어시스턴트 개선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세션 지우기 버튼, 도구 실행 정보 유지</a:t>
            </a:r>
            <a:br/>
            <a:r>
              <a:t>openRouter 연동 추가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4114800"/>
            <a:ext cx="45720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3931920"/>
            <a:ext cx="3566160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822960"/>
          <a:lstStyle/>
          <a:p>
            <a:pPr algn="ctr">
              <a:spcAft>
                <a:spcPts val="800"/>
              </a:spcAft>
              <a:defRPr sz="1600" b="1">
                <a:solidFill>
                  <a:srgbClr val="1A1A2E"/>
                </a:solidFill>
              </a:defRPr>
            </a:pPr>
            <a:r>
              <a:t>로그인 화면</a:t>
            </a:r>
          </a:p>
          <a:p>
            <a:pPr>
              <a:defRPr sz="1100">
                <a:solidFill>
                  <a:srgbClr val="666666"/>
                </a:solidFill>
              </a:defRPr>
            </a:pPr>
            <a:r>
              <a:t>브랜딩 정리, 미니멀리스트 디자인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114800"/>
            <a:ext cx="45720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Web UI 개선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3327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200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screenshot-web1.png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Web UI 개선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3327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200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screenshot-web2.png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Web UI 개선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3327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200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screenshot-web3.png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Web UI 개선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3327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200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screenshot-web4.png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TUI 개선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3327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200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screenshot-tui.png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CLI 추가 (신규)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0292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주요 기능</a:t>
            </a:r>
          </a:p>
          <a:p>
            <a:pPr>
              <a:spcBef>
                <a:spcPts val="600"/>
              </a:spcBef>
              <a:defRPr sz="1200">
                <a:solidFill>
                  <a:srgbClr val="1A1A2E"/>
                </a:solidFill>
              </a:defRPr>
            </a:pPr>
            <a:r>
              <a:t>NEW  REPL 구현 (1,554줄)</a:t>
            </a:r>
          </a:p>
          <a:p>
            <a:pPr>
              <a:spcBef>
                <a:spcPts val="600"/>
              </a:spcBef>
              <a:defRPr sz="1200">
                <a:solidFill>
                  <a:srgbClr val="1A1A2E"/>
                </a:solidFill>
              </a:defRPr>
            </a:pPr>
            <a:r>
              <a:t>NEW  한글(UTF-8) 입력 지원</a:t>
            </a:r>
          </a:p>
          <a:p>
            <a:pPr>
              <a:spcBef>
                <a:spcPts val="600"/>
              </a:spcBef>
              <a:defRPr sz="1200">
                <a:solidFill>
                  <a:srgbClr val="1A1A2E"/>
                </a:solidFill>
              </a:defRPr>
            </a:pPr>
            <a:r>
              <a:t>NEW  Left/Right 커서 네비게이션</a:t>
            </a:r>
          </a:p>
          <a:p>
            <a:pPr>
              <a:spcBef>
                <a:spcPts val="600"/>
              </a:spcBef>
              <a:defRPr sz="1200">
                <a:solidFill>
                  <a:srgbClr val="1A1A2E"/>
                </a:solidFill>
              </a:defRPr>
            </a:pPr>
            <a:r>
              <a:t>NEW  Ctrl+Enter 개행 입력</a:t>
            </a:r>
          </a:p>
          <a:p>
            <a:pPr>
              <a:spcBef>
                <a:spcPts val="600"/>
              </a:spcBef>
              <a:defRPr sz="1200">
                <a:solidFill>
                  <a:srgbClr val="1A1A2E"/>
                </a:solidFill>
              </a:defRPr>
            </a:pPr>
            <a:r>
              <a:t>NEW  도구 승인 프롬프트 (Y/A/n/q)</a:t>
            </a:r>
          </a:p>
          <a:p>
            <a:pPr>
              <a:spcBef>
                <a:spcPts val="600"/>
              </a:spcBef>
              <a:defRPr sz="1200">
                <a:solidFill>
                  <a:srgbClr val="1A1A2E"/>
                </a:solidFill>
              </a:defRPr>
            </a:pPr>
            <a:r>
              <a:t>NEW  K8s 컨텍스트 인식 AI</a:t>
            </a:r>
          </a:p>
          <a:p>
            <a:pPr>
              <a:spcBef>
                <a:spcPts val="600"/>
              </a:spcBef>
              <a:defRPr sz="1200">
                <a:solidFill>
                  <a:srgbClr val="1A1A2E"/>
                </a:solidFill>
              </a:defRPr>
            </a:pPr>
            <a:r>
              <a:t>NEW  Tab 자동 완성</a:t>
            </a:r>
          </a:p>
          <a:p>
            <a:pPr>
              <a:spcBef>
                <a:spcPts val="600"/>
              </a:spcBef>
              <a:defRPr sz="1200">
                <a:solidFill>
                  <a:srgbClr val="1A1A2E"/>
                </a:solidFill>
              </a:defRPr>
            </a:pPr>
            <a:r>
              <a:t>NEW  명령 히스토리 (Up/Down)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188720"/>
            <a:ext cx="59436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명령어 리스트</a:t>
            </a:r>
          </a:p>
          <a:p>
            <a:pPr>
              <a:spcBef>
                <a:spcPts val="400"/>
              </a:spcBef>
              <a:defRPr sz="1100">
                <a:solidFill>
                  <a:srgbClr val="1A1A2E"/>
                </a:solidFill>
                <a:latin typeface="Monaco"/>
              </a:defRPr>
            </a:pPr>
            <a:r>
              <a:t>:help  -  도움말 표시</a:t>
            </a:r>
          </a:p>
          <a:p>
            <a:pPr>
              <a:spcBef>
                <a:spcPts val="400"/>
              </a:spcBef>
              <a:defRPr sz="1100">
                <a:solidFill>
                  <a:srgbClr val="1A1A2E"/>
                </a:solidFill>
                <a:latin typeface="Monaco"/>
              </a:defRPr>
            </a:pPr>
            <a:r>
              <a:t>:ai &lt;질문&gt;  -  AI 어시스턴트에 질문</a:t>
            </a:r>
          </a:p>
          <a:p>
            <a:pPr>
              <a:spcBef>
                <a:spcPts val="400"/>
              </a:spcBef>
              <a:defRPr sz="1100">
                <a:solidFill>
                  <a:srgbClr val="1A1A2E"/>
                </a:solidFill>
                <a:latin typeface="Monaco"/>
              </a:defRPr>
            </a:pPr>
            <a:r>
              <a:t>:model [이름]  -  LLM 모델 조회/전환</a:t>
            </a:r>
          </a:p>
          <a:p>
            <a:pPr>
              <a:spcBef>
                <a:spcPts val="400"/>
              </a:spcBef>
              <a:defRPr sz="1100">
                <a:solidFill>
                  <a:srgbClr val="1A1A2E"/>
                </a:solidFill>
                <a:latin typeface="Monaco"/>
              </a:defRPr>
            </a:pPr>
            <a:r>
              <a:t>:namespace [이름]  -  네임스페이스 조회/설정</a:t>
            </a:r>
          </a:p>
          <a:p>
            <a:pPr>
              <a:spcBef>
                <a:spcPts val="400"/>
              </a:spcBef>
              <a:defRPr sz="1100">
                <a:solidFill>
                  <a:srgbClr val="1A1A2E"/>
                </a:solidFill>
                <a:latin typeface="Monaco"/>
              </a:defRPr>
            </a:pPr>
            <a:r>
              <a:t>:context [이름]  -  K8s 컨텍스트 조회/전환</a:t>
            </a:r>
          </a:p>
          <a:p>
            <a:pPr>
              <a:spcBef>
                <a:spcPts val="400"/>
              </a:spcBef>
              <a:defRPr sz="1100">
                <a:solidFill>
                  <a:srgbClr val="1A1A2E"/>
                </a:solidFill>
                <a:latin typeface="Monaco"/>
              </a:defRPr>
            </a:pPr>
            <a:r>
              <a:t>:mcp [list|tools]  -  MCP 상태/도구 목록</a:t>
            </a:r>
          </a:p>
          <a:p>
            <a:pPr>
              <a:spcBef>
                <a:spcPts val="400"/>
              </a:spcBef>
              <a:defRPr sz="1100">
                <a:solidFill>
                  <a:srgbClr val="1A1A2E"/>
                </a:solidFill>
                <a:latin typeface="Monaco"/>
              </a:defRPr>
            </a:pPr>
            <a:r>
              <a:t>:history  -  명령 히스토리 표시</a:t>
            </a:r>
          </a:p>
          <a:p>
            <a:pPr>
              <a:spcBef>
                <a:spcPts val="400"/>
              </a:spcBef>
              <a:defRPr sz="1100">
                <a:solidFill>
                  <a:srgbClr val="1A1A2E"/>
                </a:solidFill>
                <a:latin typeface="Monaco"/>
              </a:defRPr>
            </a:pPr>
            <a:r>
              <a:t>:clear  -  화면 지우기</a:t>
            </a:r>
          </a:p>
          <a:p>
            <a:pPr>
              <a:spcBef>
                <a:spcPts val="400"/>
              </a:spcBef>
              <a:defRPr sz="1100">
                <a:solidFill>
                  <a:srgbClr val="1A1A2E"/>
                </a:solidFill>
                <a:latin typeface="Monaco"/>
              </a:defRPr>
            </a:pPr>
            <a:r>
              <a:t>:version  -  버전 정보 표시</a:t>
            </a:r>
          </a:p>
          <a:p>
            <a:pPr>
              <a:spcBef>
                <a:spcPts val="400"/>
              </a:spcBef>
              <a:defRPr sz="1100">
                <a:solidFill>
                  <a:srgbClr val="1A1A2E"/>
                </a:solidFill>
                <a:latin typeface="Monaco"/>
              </a:defRPr>
            </a:pPr>
            <a:r>
              <a:t>:quit / :exit  -  CLI 종료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CLI 실제 구현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3327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200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screenshot-cli.png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기술적 도전과 해결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1A1A2E"/>
                </a:solidFill>
              </a:defRPr>
            </a:pPr>
            <a:r>
              <a:t>한글 입력 처리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CLI 터미널에서 다중바이트 UTF-8 문자의 정확한 입력과 커서 이동 처리 구현</a:t>
            </a:r>
            <a:br/>
            <a:r>
              <a:t>readLine 함수 개선으로 한국어 사용자 지원 강화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1A1A2E"/>
                </a:solidFill>
              </a:defRPr>
            </a:pPr>
            <a:r>
              <a:t>AI 도구 승인 플로우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stdin 기반 세션 자동 승인(A all)</a:t>
            </a:r>
            <a:br/>
            <a:r>
              <a:t>safety.PolicyEnforcer와 연동하여 안전한 도구 실행 보장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5486400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1A1A2E"/>
                </a:solidFill>
              </a:defRPr>
            </a:pPr>
            <a:r>
              <a:t>K8s 컨텍스트 수집 방식 개선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네임스페이스/리소스 현황 자동 조회</a:t>
            </a:r>
            <a:br/>
            <a:r>
              <a:t>YAML/Events/Logs 통합 제공으로 AI 분석 품질 향상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486400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1A1A2E"/>
                </a:solidFill>
              </a:defRPr>
            </a:pPr>
            <a:r>
              <a:t>Web UI 번역 시스템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i18n.js 734줄 대폭 개선. AI 패널</a:t>
            </a:r>
            <a:br/>
            <a:r>
              <a:t>Decision 팝업, Cluster Overview 등 핵심 UI 한글 번역 완성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K13D의 방향성 고민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1A1A2E"/>
                </a:solidFill>
              </a:defRPr>
            </a:pPr>
            <a:r>
              <a:t>타겟 유저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Kubernetes를 운영하는 플랫폼 엔지니어, AI로 K8s 운영을 자동화하려는 DevOps 팀, CLI · TUI를 선호하는 개발자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1A1A2E"/>
                </a:solidFill>
              </a:defRPr>
            </a:pPr>
            <a:r>
              <a:t>공략할 틈새 시장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오픈소스 K8s AI 네이티브 전용 도구 특화, Air-gapped(폐쇄망)/온프레미스 보안 환경용 도구, k8s 자격증 대비 테스트 도구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5486400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1A1A2E"/>
                </a:solidFill>
              </a:defRPr>
            </a:pPr>
            <a:r>
              <a:t>CLI 기능 확대 전략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AI 기반 문제 진단 및 자동 수정, 반복 작업 자동화 스크립트 지원, MCP 기반 플러그인 생태계 구축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486400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1A1A2E"/>
                </a:solidFill>
              </a:defRPr>
            </a:pPr>
            <a:r>
              <a:t>실무 활용 예시 발굴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장애 상황 AI 자동 진단 · 복구, 배포 전 영향도 분석 리포트, 인시던트 기반 사후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총 정리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011680" cy="10972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94560"/>
                </a:solidFill>
              </a:defRPr>
            </a:pPr>
            <a:r>
              <a:t>14</a:t>
            </a: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t>Web UI 커밋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188720"/>
            <a:ext cx="2011680" cy="10972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94560"/>
                </a:solidFill>
              </a:defRPr>
            </a:pPr>
            <a:r>
              <a:t>9</a:t>
            </a: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t>CLI 커밋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011680" cy="10972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94560"/>
                </a:solidFill>
              </a:defRPr>
            </a:pPr>
            <a:r>
              <a:t>4</a:t>
            </a: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t>TUI 커밋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560320"/>
            <a:ext cx="2011680" cy="10972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94560"/>
                </a:solidFill>
              </a:defRPr>
            </a:pPr>
            <a:r>
              <a:t>10</a:t>
            </a: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t>버그 수정/문서화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향후 계획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1097280" cy="36576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Web UI 성능 최적화 및 반응형 디자인 보완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1097280" cy="36576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사용 가능한 AI 모델과의 최적 연동성 강화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383280"/>
            <a:ext cx="1097280" cy="36576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다양한 WebUI / CLI 기능 발굴 및 개선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480559"/>
            <a:ext cx="1097280" cy="36576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4805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기존 사용중인 도구에서 부착해서 사용 가능한 플러그인 사업 모델 개발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k13d - Kubernetes Management, Reimagined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참고용 CLI UI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hermes.png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ibmbob.png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mimo.png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opencode.png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